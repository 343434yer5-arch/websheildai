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67A08-29D0-1A06-C877-767411721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B28E36-116E-3DEB-8C46-872CFE569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A3A16E-AB1A-05FF-5631-52BF8CCA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6C2D90-AC53-1520-D727-129406539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A12C2A-65EB-C4CC-7A88-7881DC8E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62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15C41-309C-8975-98DA-BB1E41F3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156584-4D2F-A3B9-63E5-7B587ED79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580F3D-C413-5092-DE07-10F235F5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CBB8F0-2FC8-96BE-2659-BA0C415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44874-0010-7184-5BCC-B56289B6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360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8E351-CC55-C6B2-1DA5-4DE04BD13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8D74DC-AEDE-0D07-E793-9A7246D70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86987D-8558-7B00-952D-AE8F1FAD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A58E9-95D1-4A63-4A1A-63D9891D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6845F0-3A15-0D26-80C3-CBFA47B9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60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BAB7B-38F9-EBB9-581C-0F9EDA26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E32A4B-30C8-9377-B10F-1BD8522DF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BE57C7-C49B-9B18-4255-9568C5B4F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784B83-C10E-F091-6E0E-A290A636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53A417-234E-2590-15F0-ADA1BC5F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E251E0-4DB7-D165-C1AE-08F26029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91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1B15A-D534-EA6E-EAC5-72D57F9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E5DD41-70E7-4855-932E-AA119F4B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D44977-8640-72DB-C95E-1C315161E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687C08-0670-314F-6E3B-AA18FA493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BB2B03-D2C8-FAA7-4FE8-3F35AB554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A1C542-085A-3E15-115C-917B3C2F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4576ED-1C32-011B-FF88-B95C7E7B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1F1017-205C-1CF2-337A-59D638B7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235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F58D7-C266-8315-FB4E-EAD7A1BD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C72ED7-C4B3-02B7-743D-4DCC7D517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C3F616B-6C61-BB53-2CA0-E052A6583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CF5A9A-B7FB-7EEF-E43F-BDAA785E4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26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50CDEE-C02B-5B5E-C1AA-F2EE8F77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FD51C04-C817-15BE-A1D9-8C16BDBC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E1EB05-6D0D-3862-A16F-7745EE41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62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F406-AEBD-00A0-C38A-88137DC1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7DEC6-6D36-D5FA-6345-33F99AF2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8870D0-0EF0-1B26-F5E0-62D68D0DB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846303-C235-04E5-0072-563BDFB4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EF09C6-4135-2F0D-395B-B2AD20A3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212250-29F9-C1D1-D502-57C8D812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38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48244-2066-AAB3-57BA-B01C9BA4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C4F316-8BBF-21F0-ECC2-86D116542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AF5F30-58A5-40CF-35C0-0B1C7138B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E79682-3B08-B3CD-A6F4-1ED3C8F3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454ACE-F27E-BD5F-AAF7-BB961982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DBBB16-3AAC-94E8-4DB9-B6B47982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47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CBAA4-0C7D-696A-F466-812F4872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8B7DEE-7365-22EC-2753-207F27086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3A60AA-5811-C836-F6F5-9EC744A8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217079-4241-1B0E-975E-CF4DF946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C1E9E5-FF0D-B486-75F0-D89D3666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16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643B87-6EF7-A197-39E5-AA34F7A9E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C69E53-7104-22CE-212D-E2445DFD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BEB858-DDF0-F8E9-F650-0682408A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969CE8-6868-D984-0200-F8066D947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8E4163-55E9-4D22-237E-C11B3073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3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45214-DC2B-00E0-380E-09807C1C0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BCF45E-CBC8-4D72-D6A2-A60C328BB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689F20-30BE-6566-8AB0-2B34FBFFB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FB4EF-BAB9-41AA-AB9A-DE8AB35FC620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FAB6FA-DF6F-7B2E-4AEF-837A95477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5BC263-9785-3161-C884-17B2D9815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DFDC-A3AA-47D7-B534-4A02DD79A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34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D0B06-84D3-F39E-0630-4B287140F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WebSheidl</a:t>
            </a:r>
            <a:r>
              <a:rPr lang="en-US" dirty="0"/>
              <a:t> AI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24D1E1-D954-7311-D82A-3562B6A425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Щедрин Ярослав </a:t>
            </a:r>
            <a:r>
              <a:rPr lang="ru-RU" dirty="0" err="1"/>
              <a:t>Евгеньеви</a:t>
            </a:r>
            <a:r>
              <a:rPr lang="ru-RU" dirty="0"/>
              <a:t> 10А, МБОУ Лицей №52</a:t>
            </a:r>
          </a:p>
        </p:txBody>
      </p:sp>
    </p:spTree>
    <p:extLst>
      <p:ext uri="{BB962C8B-B14F-4D97-AF65-F5344CB8AC3E}">
        <p14:creationId xmlns:p14="http://schemas.microsoft.com/office/powerpoint/2010/main" val="75717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7F8A6-D4BB-62CD-213B-0ED24EA4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C1D34A-CA5C-82E7-E862-E7FD48978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1.1 Актуальность работы</a:t>
            </a:r>
            <a:endParaRPr lang="ru-RU" b="1" dirty="0">
              <a:effectLst/>
            </a:endParaRPr>
          </a:p>
          <a:p>
            <a:r>
              <a:rPr lang="ru-RU" b="1" dirty="0"/>
              <a:t>Контекст: Средние и крупные компании активно используют веб-приложения для взаимодействия с клиентами и партнёрами. Однако защита этих приложений сталкивается с ключевыми проблемами.</a:t>
            </a:r>
            <a:endParaRPr lang="ru-RU" b="1" dirty="0">
              <a:effectLst/>
            </a:endParaRPr>
          </a:p>
          <a:p>
            <a:r>
              <a:rPr lang="ru-RU" b="1" dirty="0"/>
              <a:t>1.2 Проблемы</a:t>
            </a:r>
            <a:endParaRPr lang="ru-RU" b="1" dirty="0">
              <a:effectLst/>
            </a:endParaRPr>
          </a:p>
          <a:p>
            <a:r>
              <a:rPr lang="ru-RU" b="1" i="1" dirty="0"/>
              <a:t>Перегруженность SOC</a:t>
            </a:r>
            <a:r>
              <a:rPr lang="ru-RU" b="1" dirty="0"/>
              <a:t> (Security Operations Center): Специалисты тратят до 60% времени на анализ ложных срабатываний от WAF (Web Application Firewall) и систем обнаружения вторжений. Задержка в реагировании: Время между обнаружением атаки и принятием мер может достигать нескольких часов, что достаточно для нанесения ущерба. </a:t>
            </a:r>
            <a:endParaRPr lang="ru-RU" b="1" dirty="0">
              <a:effectLst/>
            </a:endParaRPr>
          </a:p>
          <a:p>
            <a:r>
              <a:rPr lang="ru-RU" b="1" i="1" dirty="0"/>
              <a:t>Несогласованность правил безопасности</a:t>
            </a:r>
            <a:r>
              <a:rPr lang="ru-RU" b="1" dirty="0"/>
              <a:t>: Часто WAF, IDS/IPS и системы мониторинга работают изолированно, что создаёт «слепые зоны». Сложность администрирования: </a:t>
            </a:r>
            <a:endParaRPr lang="ru-RU" b="1" dirty="0">
              <a:effectLst/>
            </a:endParaRPr>
          </a:p>
          <a:p>
            <a:r>
              <a:rPr lang="ru-RU" b="1" dirty="0"/>
              <a:t>Настройка и обновление правил безопасности требуют высокой квалификации и времени. </a:t>
            </a:r>
            <a:endParaRPr lang="ru-RU" b="1" dirty="0">
              <a:effectLst/>
            </a:endParaRPr>
          </a:p>
          <a:p>
            <a:r>
              <a:rPr lang="ru-RU" b="1" dirty="0"/>
              <a:t>Конкретный пример: Атаки типа SQL-инъекция и XSS ежедневно генерируют сотни </a:t>
            </a:r>
            <a:r>
              <a:rPr lang="ru-RU" b="1" dirty="0" err="1"/>
              <a:t>алертов</a:t>
            </a:r>
            <a:r>
              <a:rPr lang="ru-RU" b="1" dirty="0"/>
              <a:t>, большинство из которых — ложные или низкоприоритетные. Это ведёт к «усталости от предупреждений» и пропуску реальных угроз.</a:t>
            </a:r>
            <a:endParaRPr lang="ru-RU" b="1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988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E861F-03D1-D875-D9DB-1302DB17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Цель,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9B7BE6-4937-ED99-F152-126D231FC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b="1" dirty="0"/>
              <a:t>2.1 Цель проекта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Целью проектной работы является разработка  Blue Team-проекта и прототипа инструмента - Платформы: </a:t>
            </a:r>
            <a:r>
              <a:rPr lang="ru-RU" sz="2000" b="1" dirty="0" err="1"/>
              <a:t>WebShield</a:t>
            </a:r>
            <a:r>
              <a:rPr lang="ru-RU" sz="2000" b="1" dirty="0"/>
              <a:t> AI — интеллектуальная система мониторинга и автоматизированного реагирования для веб-приложений для эффективной защиты от замаскированных атак. 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2.2 Задачи проекта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Выделить типовые уязвимости и слабые места в архитектуре интеллектуальной системы мониторинга платформы </a:t>
            </a:r>
            <a:r>
              <a:rPr lang="ru-RU" sz="2000" b="1" dirty="0" err="1"/>
              <a:t>WebShield</a:t>
            </a:r>
            <a:r>
              <a:rPr lang="ru-RU" sz="2000" b="1" dirty="0"/>
              <a:t> AI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Изучить существующие инструменты и подходы Blue Team в данной области.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Разработать методологию эмуляции атаки на цепочку поставок в контролируемой среде.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Спроектировать макет прототипа инструмента интеллектуальной системы мониторинга платформы </a:t>
            </a:r>
            <a:r>
              <a:rPr lang="ru-RU" sz="2000" b="1" dirty="0" err="1"/>
              <a:t>WebShield</a:t>
            </a:r>
            <a:r>
              <a:rPr lang="ru-RU" sz="2000" b="1" dirty="0"/>
              <a:t> AI</a:t>
            </a:r>
            <a:endParaRPr lang="ru-RU" sz="2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9134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D3B8E-2396-DE5C-ABED-A1A71D1E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ru-RU" b="1" dirty="0"/>
              <a:t>Концепция и новизна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0EEF6F-CF86-9B28-1AC1-0E6E60319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4.1 Идея проекта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Проект подразумевает целую платформу </a:t>
            </a:r>
            <a:r>
              <a:rPr lang="ru-RU" sz="2000" b="1" dirty="0" err="1"/>
              <a:t>WebShield</a:t>
            </a:r>
            <a:r>
              <a:rPr lang="ru-RU" sz="2000" b="1" dirty="0"/>
              <a:t> AI –интуитивного интерфейса мониторинга веб-приложений и автоматизированного реагирования для эффективной защиты от замаскированных атак, своевременного уведомления разработчиков кода о потенциальных уязвимостях в коде  и визуализацией атак на карте мира.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4.2 Новизна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Новизна проекта заключается в: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Умный анализ вместо простых правил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Автоматизация не только обнаружения, но и ответа</a:t>
            </a:r>
            <a:endParaRPr lang="ru-RU" sz="2000" b="1" dirty="0">
              <a:effectLst/>
            </a:endParaRPr>
          </a:p>
          <a:p>
            <a:r>
              <a:rPr lang="ru-RU" sz="2000" b="1" dirty="0"/>
              <a:t>Адаптивная защита, которая учится сама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5372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8864B-7C7C-5DA1-94E0-2B92D213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Архитектурная схема (логическое описание)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E2DDE0-8916-3114-A1A2-76CAB1CB2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Система принимает на вход </a:t>
            </a:r>
            <a:r>
              <a:rPr lang="ru-RU" sz="2000" b="1" dirty="0"/>
              <a:t>HTTP/HTTPS трафик веб-приложений</a:t>
            </a:r>
            <a:r>
              <a:rPr lang="ru-RU" sz="2000" dirty="0"/>
              <a:t> в реальном времени или из файлов журналов (логов). В качестве дополнительных источников могут использоваться данные из сканеров уязвимостей и списки репутаций IP-адресов.</a:t>
            </a:r>
            <a:endParaRPr lang="ru-RU" sz="2000" dirty="0">
              <a:effectLst/>
            </a:endParaRPr>
          </a:p>
          <a:p>
            <a:r>
              <a:rPr lang="ru-RU" sz="2000" dirty="0"/>
              <a:t>Система выдает:</a:t>
            </a:r>
            <a:endParaRPr lang="ru-RU" sz="2000" dirty="0">
              <a:effectLst/>
            </a:endParaRPr>
          </a:p>
          <a:p>
            <a:r>
              <a:rPr lang="ru-RU" sz="2000" b="1" dirty="0" err="1"/>
              <a:t>Приоритизированные</a:t>
            </a:r>
            <a:r>
              <a:rPr lang="ru-RU" sz="2000" b="1" dirty="0"/>
              <a:t> инциденты</a:t>
            </a:r>
            <a:r>
              <a:rPr lang="ru-RU" sz="2000" dirty="0"/>
              <a:t> с оценкой риска.</a:t>
            </a:r>
            <a:endParaRPr lang="ru-RU" sz="2000" dirty="0">
              <a:effectLst/>
            </a:endParaRPr>
          </a:p>
          <a:p>
            <a:r>
              <a:rPr lang="ru-RU" sz="2000" b="1" dirty="0"/>
              <a:t>Автоматические действия</a:t>
            </a:r>
            <a:r>
              <a:rPr lang="ru-RU" sz="2000" dirty="0"/>
              <a:t> (команды на блокировку, правила для WAF, уведомления).</a:t>
            </a:r>
            <a:endParaRPr lang="ru-RU" sz="2000" dirty="0">
              <a:effectLst/>
            </a:endParaRPr>
          </a:p>
          <a:p>
            <a:r>
              <a:rPr lang="ru-RU" sz="2000" b="1" dirty="0"/>
              <a:t>Визуализацию и отчеты</a:t>
            </a:r>
            <a:r>
              <a:rPr lang="ru-RU" sz="2000" dirty="0"/>
              <a:t> в единой панели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49115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94716-CBC3-8FF1-D69C-05A0C019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Фото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AC7618-1DB8-289E-8D38-92D519961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5982"/>
            <a:ext cx="5803273" cy="3263018"/>
          </a:xfrm>
          <a:prstGeom prst="rect">
            <a:avLst/>
          </a:prstGeom>
        </p:spPr>
      </p:pic>
      <p:pic>
        <p:nvPicPr>
          <p:cNvPr id="21" name="Объект 20">
            <a:extLst>
              <a:ext uri="{FF2B5EF4-FFF2-40B4-BE49-F238E27FC236}">
                <a16:creationId xmlns:a16="http://schemas.microsoft.com/office/drawing/2014/main" id="{A5E11462-FF82-3539-4D13-CF9723D3F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354" y="3429000"/>
            <a:ext cx="5474463" cy="306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08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2DF67-676F-2F46-D277-E827CB04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Фото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650D8B1-75E6-D22C-69F2-829AAA156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4000" y="170562"/>
            <a:ext cx="5705672" cy="32081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6906B5-8B7F-8C78-BF34-F4EF75127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28" y="3378701"/>
            <a:ext cx="5705672" cy="320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8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B0B59-B0F0-DBB9-3CF2-37702A3F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12408E-D84F-DBFB-276D-164198D1A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err="1"/>
              <a:t>WebShield</a:t>
            </a:r>
            <a:r>
              <a:rPr lang="ru-RU" sz="2000" dirty="0"/>
              <a:t> AI решает ключевую проблему перегруженности SOC, сокращая время реакции на атаки и повышая точность обнаружения. Система не заменяет специалистов, а усиливает их возможности, позволяя сосредоточиться на сложных угрозах и стратегических задачах безопасности</a:t>
            </a:r>
            <a:endParaRPr lang="ru-RU" sz="2000" dirty="0">
              <a:effectLst/>
            </a:endParaRPr>
          </a:p>
          <a:p>
            <a:r>
              <a:rPr lang="ru-RU" sz="2000" b="1" dirty="0"/>
              <a:t>Разработана и протестирована</a:t>
            </a:r>
            <a:r>
              <a:rPr lang="ru-RU" sz="2000" dirty="0"/>
              <a:t> интегрированная платформа </a:t>
            </a:r>
            <a:r>
              <a:rPr lang="ru-RU" sz="2000" dirty="0" err="1"/>
              <a:t>WebShield</a:t>
            </a:r>
            <a:r>
              <a:rPr lang="ru-RU" sz="2000" dirty="0"/>
              <a:t> AI, объединяющая ML-анализ, автоматизированное реагирование и централизованное управление безопасностью веб-приложений.</a:t>
            </a:r>
            <a:endParaRPr lang="ru-RU" sz="2000" dirty="0">
              <a:effectLst/>
            </a:endParaRPr>
          </a:p>
          <a:p>
            <a:r>
              <a:rPr lang="ru-RU" sz="2000" b="1" dirty="0"/>
              <a:t>Доказана эффективность</a:t>
            </a:r>
            <a:r>
              <a:rPr lang="ru-RU" sz="2000" dirty="0"/>
              <a:t> комбинированного подхода: точность обнаружения атак достигла 94,7% при сокращении ложных срабатываний</a:t>
            </a:r>
            <a:endParaRPr lang="en-US" sz="2000" dirty="0"/>
          </a:p>
          <a:p>
            <a:r>
              <a:rPr lang="ru-RU" sz="2000" b="1" dirty="0"/>
              <a:t>Реализована и валидирована</a:t>
            </a:r>
            <a:r>
              <a:rPr lang="ru-RU" sz="2000" dirty="0"/>
              <a:t> система динамической оценки рисков с учетом</a:t>
            </a:r>
            <a:r>
              <a:rPr lang="en-US" sz="2000" dirty="0"/>
              <a:t> 3 </a:t>
            </a:r>
            <a:r>
              <a:rPr lang="ru-RU" sz="2000" dirty="0"/>
              <a:t>факторов</a:t>
            </a:r>
            <a:endParaRPr lang="en-US" sz="2000" dirty="0"/>
          </a:p>
          <a:p>
            <a:r>
              <a:rPr lang="ru-RU" sz="2000" b="1" dirty="0"/>
              <a:t>Отработана методология</a:t>
            </a:r>
            <a:r>
              <a:rPr lang="ru-RU" sz="2000" dirty="0"/>
              <a:t> поэтапного внедрения системы с минимальным воздействием на производственные процессы.</a:t>
            </a:r>
            <a:endParaRPr lang="ru-RU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35043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487</Words>
  <Application>Microsoft Office PowerPoint</Application>
  <PresentationFormat>Широкоэкранный</PresentationFormat>
  <Paragraphs>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WebSheidl AI</vt:lpstr>
      <vt:lpstr>Введение</vt:lpstr>
      <vt:lpstr>Цель, задачи</vt:lpstr>
      <vt:lpstr> Концепция и новизна проекта</vt:lpstr>
      <vt:lpstr>Архитектурная схема (логическое описание)</vt:lpstr>
      <vt:lpstr>Фото</vt:lpstr>
      <vt:lpstr>Фото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Ярослав</dc:creator>
  <cp:lastModifiedBy>Щедрин Владимир</cp:lastModifiedBy>
  <cp:revision>2</cp:revision>
  <dcterms:created xsi:type="dcterms:W3CDTF">2026-04-03T11:29:11Z</dcterms:created>
  <dcterms:modified xsi:type="dcterms:W3CDTF">2026-04-03T16:56:56Z</dcterms:modified>
</cp:coreProperties>
</file>